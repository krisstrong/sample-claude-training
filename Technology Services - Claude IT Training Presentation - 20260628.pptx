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Claude AI for IT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788920"/>
            <a:ext cx="76169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Arial"/>
              </a:rPr>
              <a:t>Technology Services Training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7E6"/>
                </a:solidFill>
                <a:latin typeface="Arial"/>
              </a:rPr>
              <a:t>Acadia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Training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1: Introduction to Claude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2: Desktop App, Terminal &amp; VS Code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3: Using Skills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4: Permissions &amp; Configuration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5: Git with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6: Script Writing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7: Data Management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8: Documentation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9: Common IT Workflows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Module 10: Best Practices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Introduction to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What is Claude?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Large language model built by Anthropic — designed to be helpful, harmless, and honest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Understands and generates text, code, scripts, documentation, and structured data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Available in three tiers: Haiku (fast), Sonnet (balanced, default), Opus (most capable)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Not connected to the internet by default — works with what you give it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Amplifies IT expertise — you review and approve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Three Ways to Access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Desktop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74720" cy="411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Rich GUI, file drag-and-drop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Projects and conversation history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Best for long tasks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Terminal (CLI)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45920"/>
            <a:ext cx="3474720" cy="411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Pipe logs, scripts, quick queries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claude "question"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Best for automation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VS Code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45920"/>
            <a:ext cx="3474720" cy="411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In-editor chat and suggestions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Ctrl+Shift+A to open panel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Best for active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Module 2 —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Interfaces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Claude Desktop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Download from claude.ai/download (Windows &amp; Mac)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Create a conversation or start a Project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Attach files by dragging them into the chat window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Use Projects to maintain persistent context across sessions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Model selector in top bar — default to Sonnet 4.6 for most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Claude in the Terminal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840480"/>
          </a:xfrm>
          <a:prstGeom prst="rect">
            <a:avLst/>
          </a:prstGeom>
          <a:solidFill>
            <a:srgbClr val="1E2433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1600">
                <a:solidFill>
                  <a:srgbClr val="CDD5E0"/>
                </a:solidFill>
                <a:latin typeface="Courier New"/>
              </a:rPr>
              <a:t>npm install -g @anthropic-ai/claude-code</a:t>
            </a:r>
          </a:p>
          <a:p>
            <a:r>
              <a:rPr sz="1600">
                <a:solidFill>
                  <a:srgbClr val="CDD5E0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CDD5E0"/>
                </a:solidFill>
                <a:latin typeface="Courier New"/>
              </a:rPr>
              <a:t>claude "What PowerShell command lists all running services?"</a:t>
            </a:r>
          </a:p>
          <a:p>
            <a:r>
              <a:rPr sz="1600">
                <a:solidFill>
                  <a:srgbClr val="CDD5E0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CDD5E0"/>
                </a:solidFill>
                <a:latin typeface="Courier New"/>
              </a:rPr>
              <a:t>cat server.log | claude "Identify any errors in this log"</a:t>
            </a:r>
          </a:p>
          <a:p>
            <a:r>
              <a:rPr sz="1600">
                <a:solidFill>
                  <a:srgbClr val="CDD5E0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CDD5E0"/>
                </a:solidFill>
                <a:latin typeface="Courier New"/>
              </a:rPr>
              <a:t>git diff | claude "Write a commit message for these changes"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Arial"/>
              </a:rPr>
              <a:t>Requires Node.js · Integrates with your existing shell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Skills — Reusable Claude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Skills are Markdown instruction files stored in .claude/skills/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Invoke with /skill-name in any Claude interface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Available skills for Technology Services: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    ◦ /theme → apply Acadia branding to any deliverable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    ◦ /code-review → review git diff for bugs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    ◦ /security-review → audit code for vulnerabilities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    ◦ /file-naming → apply standard file naming convention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    ◦ /init → document your codebase in CLAUDE.md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Module 4 —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Permissions &amp;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Claude's Permission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Claude asks before running shell commands, editing files, or making requests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Pre-approve safe actions in settings.json to reduce prompts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Common IT permissions to allow: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◦ Bash(git *) — all git operations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◦ Bash(powershell *) — PowerShell scripts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◦ Read(*) and Write(*) — file access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004077"/>
                </a:solidFill>
                <a:latin typeface="Arial"/>
              </a:rPr>
              <a:t>  ◦ Bash(python *) — Python scripts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Never pre-approve destructive commands (rm -rf, format, reset --hard)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Use /update-config skill to configure permissions with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Git with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394960" cy="45720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What Claude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394960" cy="43891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Writes commit messages and PR descriptions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Reviews code diffs (/code-review)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Explains git history and blame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Helps resolve merge conflicts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Enforces git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394960" cy="45720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Safety Guardrails (built-in)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94960" cy="43891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Never force-pushes without explicit instruction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Never skips pre-commit hooks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Warns before deleting branches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• Prefers new commits over amending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Module 6 —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Scripts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Writing Scripts with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solidFill>
            <a:srgbClr val="E6EDF3"/>
          </a:solidFill>
          <a:ln w="12700">
            <a:solidFill>
              <a:srgbClr val="004077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700" i="1">
                <a:solidFill>
                  <a:srgbClr val="004077"/>
                </a:solidFill>
                <a:latin typeface="Arial"/>
              </a:rPr>
              <a:t>“Write a PowerShell script that finds all AD computers inactive for 90 days and exports to CSV”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Works for PowerShell, Bash, Python, and batch files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Specify PowerShell version (5.1 or 7) in your prompt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Ask for -WhatIf support and error handling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Always test in a non-production environment first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Use /security-review before running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Data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800" b="0">
                <a:solidFill>
                  <a:srgbClr val="1A1A1A"/>
                </a:solidFill>
                <a:latin typeface="Arial"/>
              </a:rPr>
              <a:t>• Drag-and-drop CSV/JSON files into Claude Desktop for instant analysis</a:t>
            </a:r>
          </a:p>
          <a:p>
            <a:pPr>
              <a:spcBef>
                <a:spcPts val="900"/>
              </a:spcBef>
            </a:pPr>
            <a:r>
              <a:rPr sz="1800" b="0">
                <a:solidFill>
                  <a:srgbClr val="1A1A1A"/>
                </a:solidFill>
                <a:latin typeface="Arial"/>
              </a:rPr>
              <a:t>• “Summarize this asset inventory — how many Windows vs Linux servers?”</a:t>
            </a:r>
          </a:p>
          <a:p>
            <a:pPr>
              <a:spcBef>
                <a:spcPts val="900"/>
              </a:spcBef>
            </a:pPr>
            <a:r>
              <a:rPr sz="1800" b="0">
                <a:solidFill>
                  <a:srgbClr val="1A1A1A"/>
                </a:solidFill>
                <a:latin typeface="Arial"/>
              </a:rPr>
              <a:t>• Generate and optimize SQL queries for any database</a:t>
            </a:r>
          </a:p>
          <a:p>
            <a:pPr>
              <a:spcBef>
                <a:spcPts val="900"/>
              </a:spcBef>
            </a:pPr>
            <a:r>
              <a:rPr sz="1800" b="0">
                <a:solidFill>
                  <a:srgbClr val="1A1A1A"/>
                </a:solidFill>
                <a:latin typeface="Arial"/>
              </a:rPr>
              <a:t>• Transform and normalize data with Python/PowerShell scripts</a:t>
            </a:r>
          </a:p>
          <a:p>
            <a:pPr>
              <a:spcBef>
                <a:spcPts val="900"/>
              </a:spcBef>
            </a:pPr>
            <a:r>
              <a:rPr sz="1800" b="0">
                <a:solidFill>
                  <a:srgbClr val="1A1A1A"/>
                </a:solidFill>
                <a:latin typeface="Arial"/>
              </a:rPr>
              <a:t>• Analyze log files: pipe output directly to Claude in the terminal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C41424"/>
                </a:solidFill>
                <a:latin typeface="Arial"/>
              </a:rPr>
              <a:t>• IMPORTANT: Anonymize data before sharing — replace names, IPs, 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Module 8 —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Documentation &amp;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Documentation with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README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3474720" cy="34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Generated from code or description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"Write a README for this PowerShell module"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Updated as code evolves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Runbooks &amp; SOPs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474720" cy="34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Step-by-step procedures with pre/post checks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"Write a runbook for restarting the email relay"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Converted from informal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User Help 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474720" cy="34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Plain-English guides for non-technical users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"Explain VPN setup for a first-year student"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1A1A1A"/>
                </a:solidFill>
                <a:latin typeface="Arial"/>
              </a:rPr>
              <a:t>Audience-tuned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Arial"/>
              </a:rPr>
              <a:t>Apply /theme for Acadia branding · Apply /file-naming for standard file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Claude in Your Daily IT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4077"/>
                </a:solidFill>
                <a:latin typeface="Arial"/>
              </a:rPr>
              <a:t>Troubleshooting: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Paste error messages → Claude identifies cause and fix steps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Share netstat/event log output → Claude interprets patterns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004077"/>
                </a:solidFill>
                <a:latin typeface="Arial"/>
              </a:rPr>
              <a:t>Communications: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Maintenance window announcements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Vendor escalation emails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Non-technical explanations for faculty/staff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004077"/>
                </a:solidFill>
                <a:latin typeface="Arial"/>
              </a:rPr>
              <a:t>Ticket Management: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Summarize long email threads into post-mortems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Arial"/>
              </a:rPr>
              <a:t>    • Categorize large ticket batches by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Module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Best Practices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What NOT to Share with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424"/>
                </a:solidFill>
                <a:latin typeface="Arial"/>
              </a:rPr>
              <a:t>⚠ Never share without an enterprise data privacy agreement: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Passwords, API keys, SSH private keys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Student data (names, IDs, grades) — FERPA protected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Employee personal data (SINs, health info) — PIPEDA protected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Production connection strings or internal IP maps</a:t>
            </a:r>
          </a:p>
          <a:p>
            <a:pPr>
              <a:spcBef>
                <a:spcPts val="900"/>
              </a:spcBef>
            </a:pPr>
            <a:r>
              <a:rPr sz="1800">
                <a:solidFill>
                  <a:srgbClr val="1A1A1A"/>
                </a:solidFill>
                <a:latin typeface="Arial"/>
              </a:rPr>
              <a:t>• Third-party vendor credentials or licensed software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solidFill>
            <a:srgbClr val="E6EDF3"/>
          </a:solidFill>
          <a:ln w="12700">
            <a:solidFill>
              <a:srgbClr val="004077"/>
            </a:solidFill>
          </a:ln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004077"/>
                </a:solidFill>
                <a:latin typeface="Arial"/>
              </a:rPr>
              <a:t>Tip: Anonymize first — replace real values with placeholders before sharing any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Always Review Before Acting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Code &amp;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3474720" cy="411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Test with --WhatIf / --dry-run first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Run /security-review before deploying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Verify logic independently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474720" cy="411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Check version numbers and paths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Verify software-specific commands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Have an SME review before publishing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143000"/>
            <a:ext cx="3474720" cy="502920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474720" cy="411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Add ticket numbers and specific names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Verify tone matches Acadia standards</a:t>
            </a:r>
          </a:p>
          <a:p>
            <a:pPr algn="ctr">
              <a:spcBef>
                <a:spcPts val="1200"/>
              </a:spcBef>
            </a:pPr>
            <a:r>
              <a:rPr sz="1600">
                <a:solidFill>
                  <a:srgbClr val="1A1A1A"/>
                </a:solidFill>
                <a:latin typeface="Arial"/>
              </a:rPr>
              <a:t>Review legal language with appropriate 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4077"/>
                </a:solidFill>
                <a:latin typeface="Arial"/>
              </a:rPr>
              <a:t>Claude Prompt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2926080" cy="384048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005840"/>
            <a:ext cx="8138160" cy="384048"/>
          </a:xfrm>
          <a:prstGeom prst="rect">
            <a:avLst/>
          </a:prstGeom>
          <a:solidFill>
            <a:srgbClr val="004077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Prompt /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292608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Commit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89888"/>
            <a:ext cx="813816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git diff --staged | claude "write a commit message"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46504"/>
            <a:ext cx="29260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Script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46504"/>
            <a:ext cx="813816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"Write a PowerShell script to [task]"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92608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Error debug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813816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"I got this error: [paste error]. What does it mean?"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59736"/>
            <a:ext cx="29260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Log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59736"/>
            <a:ext cx="813816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cat app.log | claude "find errors and patterns"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16352"/>
            <a:ext cx="292608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SQL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16352"/>
            <a:ext cx="813816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"Write SQL to [query description] from table [name]"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72968"/>
            <a:ext cx="29260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Code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72968"/>
            <a:ext cx="813816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/code-review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9584"/>
            <a:ext cx="292608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Security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529584"/>
            <a:ext cx="813816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/security-review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292608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Apply branding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886200"/>
            <a:ext cx="813816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/theme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42816"/>
            <a:ext cx="292608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Name a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242816"/>
            <a:ext cx="8138160" cy="356616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4077"/>
                </a:solidFill>
                <a:latin typeface="Courier New"/>
              </a:rPr>
              <a:t>/file-naming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Arial"/>
              </a:rPr>
              <a:t>Technology Services · Acadia University · Claude IT Training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You're Ready to Use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Arial"/>
              </a:rPr>
              <a:t>• Amplify your IT work — not replace your expertise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Arial"/>
              </a:rPr>
              <a:t>• Start small: one script, one document, one ticket summary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Arial"/>
              </a:rPr>
              <a:t>• Review everything Claude produces before acting on it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Arial"/>
              </a:rPr>
              <a:t>• Reach out to Technology Services with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577840"/>
            <a:ext cx="10360152" cy="38100"/>
          </a:xfrm>
          <a:prstGeom prst="rect">
            <a:avLst/>
          </a:prstGeom>
          <a:solidFill>
            <a:srgbClr val="C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7E6"/>
                </a:solidFill>
                <a:latin typeface="Arial"/>
              </a:rPr>
              <a:t>Technology Services · Acadia University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C8D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